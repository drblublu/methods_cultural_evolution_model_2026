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71" r:id="rId2"/>
    <p:sldId id="256" r:id="rId3"/>
    <p:sldId id="272" r:id="rId4"/>
    <p:sldId id="259" r:id="rId5"/>
    <p:sldId id="273" r:id="rId6"/>
    <p:sldId id="276" r:id="rId7"/>
    <p:sldId id="274" r:id="rId8"/>
    <p:sldId id="278" r:id="rId9"/>
    <p:sldId id="275" r:id="rId10"/>
    <p:sldId id="260" r:id="rId11"/>
    <p:sldId id="280" r:id="rId12"/>
    <p:sldId id="27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AE034825-2401-4CA6-9A0D-DA9398F0D2D6}">
          <p14:sldIdLst>
            <p14:sldId id="271"/>
            <p14:sldId id="256"/>
            <p14:sldId id="272"/>
            <p14:sldId id="259"/>
            <p14:sldId id="273"/>
            <p14:sldId id="276"/>
            <p14:sldId id="274"/>
            <p14:sldId id="278"/>
            <p14:sldId id="275"/>
            <p14:sldId id="260"/>
            <p14:sldId id="280"/>
            <p14:sldId id="279"/>
          </p14:sldIdLst>
        </p14:section>
        <p14:section name="Section sans titre" id="{496CDF32-B658-4397-BB0D-4C48777A6D0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B447"/>
    <a:srgbClr val="996D4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614" autoAdjust="0"/>
  </p:normalViewPr>
  <p:slideViewPr>
    <p:cSldViewPr snapToGrid="0">
      <p:cViewPr varScale="1">
        <p:scale>
          <a:sx n="94" d="100"/>
          <a:sy n="94" d="100"/>
        </p:scale>
        <p:origin x="20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62F1F-160D-4BEC-8EDF-E740E3A21A74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10095-B27D-4FC8-B834-AC2CB8AFAD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37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0095-B27D-4FC8-B834-AC2CB8AFAD8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377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the model in class running after this slide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0095-B27D-4FC8-B834-AC2CB8AFAD8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9059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Separation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crowding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neighbours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(short range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repulsion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Alignment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Steer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neighbours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Cohesion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Steer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position of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neighbours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(long range attraction)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0095-B27D-4FC8-B834-AC2CB8AFAD8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9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789BA-9ADA-81BC-5695-A4829FC3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BCB780-C73D-B05F-ED87-A45FE8A54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0CFCE0-B651-11FC-2E85-8CF9A5286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B2789F-A501-805B-034A-9FD006D24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0095-B27D-4FC8-B834-AC2CB8AFAD8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75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DB08-1136-2F74-31E0-A73673A4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85D1FB-A882-EDF3-4BAC-6ACDC22CD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86615E2-0761-90BA-7F7C-E90B6C20E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Show the model in class running after this slide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5E52F3-840F-B9BE-6E96-AE1697B46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0095-B27D-4FC8-B834-AC2CB8AFAD8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600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10095-B27D-4FC8-B834-AC2CB8AFAD8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65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304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79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73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42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83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31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59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03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298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67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65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6F71A9-BDEE-4A55-9406-B2C33A7E70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78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5EF0B3-8D42-BF0D-01CA-9E849473EBF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8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1A4C68-368C-7FC3-A125-754E13C492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Fira Sans" panose="020B0503050000020004" pitchFamily="34" charset="0"/>
              </a:rPr>
              <a:t>Agent-based model</a:t>
            </a:r>
            <a:endParaRPr lang="fr-FR" dirty="0"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37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Amazon.fr - An Introduction to Agent-Based Modeling: Modeling Natural,  Social, and Engineered Complex Systems with NetLogo - Wilensky, Uri, Rand,  ...">
            <a:extLst>
              <a:ext uri="{FF2B5EF4-FFF2-40B4-BE49-F238E27FC236}">
                <a16:creationId xmlns:a16="http://schemas.microsoft.com/office/drawing/2014/main" id="{C33CC571-792F-8C1E-BBEB-3FABAD69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92" y="1541145"/>
            <a:ext cx="2642997" cy="377571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Image 6" descr="Modeling Social Behavior: Mathematical and Agent-Based Models of Social  Dynamics and Cultural Evolution (English Edition) eBook : Smaldino, Paul  E.: Amazon.fr: Boutique Kindle">
            <a:extLst>
              <a:ext uri="{FF2B5EF4-FFF2-40B4-BE49-F238E27FC236}">
                <a16:creationId xmlns:a16="http://schemas.microsoft.com/office/drawing/2014/main" id="{41321CF1-A240-D40D-8F89-22EAC5A7C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800" y="1541145"/>
            <a:ext cx="2642997" cy="377571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Image 7" descr="Amazon.fr - Growing Artificial Societies: Social Science from the Bottom Up  - Epstein, Joshua M., Axtell, Robert L. - Livres">
            <a:extLst>
              <a:ext uri="{FF2B5EF4-FFF2-40B4-BE49-F238E27FC236}">
                <a16:creationId xmlns:a16="http://schemas.microsoft.com/office/drawing/2014/main" id="{EA129BD1-2596-5A81-1763-050E164E7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109" y="1541145"/>
            <a:ext cx="2518399" cy="3775710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317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68B65085-5F83-633E-193D-41FDB50A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What’s an Agent-Based Simulation?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77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3855-8A8B-3DC9-4AB7-3E023E7CC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766DFC-C31A-9AB1-B25A-46845B3B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- Agents</a:t>
            </a:r>
            <a:endParaRPr lang="fr-FR" dirty="0"/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1F40D628-25EA-2171-4072-6B04C7409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503872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4"/>
                </a:solidFill>
              </a:rPr>
              <a:t>Agents</a:t>
            </a:r>
          </a:p>
          <a:p>
            <a:pPr marL="457200" lvl="1" indent="0">
              <a:buNone/>
            </a:pPr>
            <a:r>
              <a:rPr lang="en-GB" dirty="0"/>
              <a:t>The basic units or “people” of ABM.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Two main aspects:</a:t>
            </a:r>
          </a:p>
          <a:p>
            <a:pPr lvl="2"/>
            <a:r>
              <a:rPr lang="en-GB" dirty="0">
                <a:solidFill>
                  <a:schemeClr val="accent2"/>
                </a:solidFill>
              </a:rPr>
              <a:t>Properties</a:t>
            </a:r>
          </a:p>
          <a:p>
            <a:pPr lvl="2"/>
            <a:r>
              <a:rPr lang="en-GB" dirty="0">
                <a:solidFill>
                  <a:schemeClr val="accent3"/>
                </a:solidFill>
              </a:rPr>
              <a:t>Actions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Agent have </a:t>
            </a:r>
            <a:r>
              <a:rPr lang="en-GB" dirty="0">
                <a:solidFill>
                  <a:schemeClr val="accent5"/>
                </a:solidFill>
              </a:rPr>
              <a:t>cognition</a:t>
            </a:r>
            <a:r>
              <a:rPr lang="en-GB" dirty="0"/>
              <a:t> helping them understanding their environment and take actions accordingly</a:t>
            </a:r>
          </a:p>
        </p:txBody>
      </p:sp>
      <p:pic>
        <p:nvPicPr>
          <p:cNvPr id="22" name="Espace réservé du contenu 17">
            <a:extLst>
              <a:ext uri="{FF2B5EF4-FFF2-40B4-BE49-F238E27FC236}">
                <a16:creationId xmlns:a16="http://schemas.microsoft.com/office/drawing/2014/main" id="{2B6D38C1-C2E3-0A8C-2AAF-4A3793080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013" y="1946394"/>
            <a:ext cx="2622550" cy="2622550"/>
          </a:xfrm>
          <a:prstGeom prst="rect">
            <a:avLst/>
          </a:prstGeom>
          <a:ln w="28575">
            <a:noFill/>
          </a:ln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058DBC1E-1552-3BA4-5B26-95FACF05CA60}"/>
              </a:ext>
            </a:extLst>
          </p:cNvPr>
          <p:cNvSpPr txBox="1"/>
          <p:nvPr/>
        </p:nvSpPr>
        <p:spPr>
          <a:xfrm>
            <a:off x="6253012" y="4568944"/>
            <a:ext cx="2622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Agent-based Wolf Sheep Predation Model (</a:t>
            </a:r>
            <a:r>
              <a:rPr lang="en-GB" sz="1400" i="1" dirty="0"/>
              <a:t>Wilensky, 1997)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262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5FFC-FCF6-AD4F-5054-F3E67478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5DA8E-AD0D-5058-D744-60EDE7E3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- Agents</a:t>
            </a:r>
            <a:endParaRPr lang="fr-FR" dirty="0"/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5D14A9E4-04FB-EA69-2F4A-037E59D81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503872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Agents</a:t>
            </a:r>
          </a:p>
          <a:p>
            <a:pPr marL="457200" lvl="1" indent="0">
              <a:buNone/>
            </a:pPr>
            <a:r>
              <a:rPr lang="en-GB" dirty="0"/>
              <a:t>The basic units or “people” of ABM.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Two main aspects:</a:t>
            </a:r>
          </a:p>
          <a:p>
            <a:pPr lvl="2"/>
            <a:r>
              <a:rPr lang="en-GB" dirty="0">
                <a:solidFill>
                  <a:schemeClr val="accent2"/>
                </a:solidFill>
              </a:rPr>
              <a:t>Properties</a:t>
            </a:r>
          </a:p>
          <a:p>
            <a:pPr lvl="2"/>
            <a:r>
              <a:rPr lang="en-GB" dirty="0">
                <a:solidFill>
                  <a:schemeClr val="accent3"/>
                </a:solidFill>
              </a:rPr>
              <a:t>Actions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Agent have </a:t>
            </a:r>
            <a:r>
              <a:rPr lang="en-GB" dirty="0">
                <a:solidFill>
                  <a:schemeClr val="accent5"/>
                </a:solidFill>
              </a:rPr>
              <a:t>cognition</a:t>
            </a:r>
            <a:r>
              <a:rPr lang="en-GB" dirty="0"/>
              <a:t> helping them understanding their environment and take actions accordingly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ACB322D-EC8A-0E48-7961-945844950B13}"/>
              </a:ext>
            </a:extLst>
          </p:cNvPr>
          <p:cNvGrpSpPr/>
          <p:nvPr/>
        </p:nvGrpSpPr>
        <p:grpSpPr>
          <a:xfrm>
            <a:off x="6443857" y="1949450"/>
            <a:ext cx="2071493" cy="1017192"/>
            <a:chOff x="1966291" y="3257669"/>
            <a:chExt cx="2071493" cy="1017192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1A494441-98FF-BAD6-13B2-A19C7E602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669" t="62818" r="51886" b="7935"/>
            <a:stretch>
              <a:fillRect/>
            </a:stretch>
          </p:blipFill>
          <p:spPr>
            <a:xfrm>
              <a:off x="1966291" y="3565447"/>
              <a:ext cx="776240" cy="709414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DA649AD-6F97-D056-6F0E-BC6DCE791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2566" t="12076" r="12989" b="58677"/>
            <a:stretch>
              <a:fillRect/>
            </a:stretch>
          </p:blipFill>
          <p:spPr>
            <a:xfrm>
              <a:off x="3261544" y="3565447"/>
              <a:ext cx="776240" cy="709414"/>
            </a:xfrm>
            <a:prstGeom prst="rect">
              <a:avLst/>
            </a:prstGeom>
          </p:spPr>
        </p:pic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537DCBD2-1FDE-BD0D-7F87-3819FE0632F5}"/>
                </a:ext>
              </a:extLst>
            </p:cNvPr>
            <p:cNvSpPr txBox="1"/>
            <p:nvPr/>
          </p:nvSpPr>
          <p:spPr>
            <a:xfrm>
              <a:off x="1966291" y="3257670"/>
              <a:ext cx="776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 err="1"/>
                <a:t>sheep</a:t>
              </a:r>
              <a:endParaRPr lang="en-GB" sz="1400" b="1" dirty="0"/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707C6DB5-3E7A-7652-448B-F0AF440DB7C8}"/>
                </a:ext>
              </a:extLst>
            </p:cNvPr>
            <p:cNvSpPr txBox="1"/>
            <p:nvPr/>
          </p:nvSpPr>
          <p:spPr>
            <a:xfrm>
              <a:off x="3261544" y="3257669"/>
              <a:ext cx="7762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 err="1"/>
                <a:t>wolf</a:t>
              </a:r>
              <a:endParaRPr lang="en-GB" sz="1400" b="1" dirty="0"/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48CF7125-E197-68A2-836A-56D56BEF9453}"/>
              </a:ext>
            </a:extLst>
          </p:cNvPr>
          <p:cNvSpPr txBox="1"/>
          <p:nvPr/>
        </p:nvSpPr>
        <p:spPr>
          <a:xfrm>
            <a:off x="6379539" y="2962275"/>
            <a:ext cx="120236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2"/>
                </a:solidFill>
              </a:rPr>
              <a:t>xcor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dirty="0" err="1">
                <a:solidFill>
                  <a:schemeClr val="accent2"/>
                </a:solidFill>
              </a:rPr>
              <a:t>ycor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dirty="0">
                <a:solidFill>
                  <a:schemeClr val="accent2"/>
                </a:solidFill>
              </a:rPr>
              <a:t>energy</a:t>
            </a:r>
          </a:p>
          <a:p>
            <a:r>
              <a:rPr lang="en-GB" sz="1600" dirty="0">
                <a:solidFill>
                  <a:schemeClr val="accent2"/>
                </a:solidFill>
              </a:rPr>
              <a:t>size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move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eat-grass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death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reproduce</a:t>
            </a:r>
          </a:p>
          <a:p>
            <a:r>
              <a:rPr lang="en-GB" sz="1600" dirty="0">
                <a:solidFill>
                  <a:schemeClr val="accent5"/>
                </a:solidFill>
              </a:rPr>
              <a:t>energy?</a:t>
            </a:r>
          </a:p>
          <a:p>
            <a:r>
              <a:rPr lang="en-GB" sz="1600" dirty="0">
                <a:solidFill>
                  <a:schemeClr val="accent5"/>
                </a:solidFill>
              </a:rPr>
              <a:t>position?</a:t>
            </a:r>
            <a:endParaRPr lang="fr-FR" sz="1600" dirty="0">
              <a:solidFill>
                <a:schemeClr val="accent5"/>
              </a:solidFill>
            </a:endParaRPr>
          </a:p>
          <a:p>
            <a:endParaRPr lang="en-GB" sz="1600" dirty="0">
              <a:solidFill>
                <a:schemeClr val="accent2"/>
              </a:solidFill>
            </a:endParaRPr>
          </a:p>
          <a:p>
            <a:endParaRPr lang="fr-FR" sz="1600" dirty="0">
              <a:solidFill>
                <a:schemeClr val="accent2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12AF45C-832C-5F54-A2F0-F0C7F9F55DE5}"/>
              </a:ext>
            </a:extLst>
          </p:cNvPr>
          <p:cNvSpPr txBox="1"/>
          <p:nvPr/>
        </p:nvSpPr>
        <p:spPr>
          <a:xfrm>
            <a:off x="7739110" y="2971799"/>
            <a:ext cx="12023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>
                <a:solidFill>
                  <a:schemeClr val="accent2"/>
                </a:solidFill>
              </a:rPr>
              <a:t>xcor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dirty="0" err="1">
                <a:solidFill>
                  <a:schemeClr val="accent2"/>
                </a:solidFill>
              </a:rPr>
              <a:t>ycor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dirty="0">
                <a:solidFill>
                  <a:schemeClr val="accent2"/>
                </a:solidFill>
              </a:rPr>
              <a:t>energy</a:t>
            </a:r>
          </a:p>
          <a:p>
            <a:r>
              <a:rPr lang="en-GB" sz="1600" dirty="0">
                <a:solidFill>
                  <a:schemeClr val="accent2"/>
                </a:solidFill>
              </a:rPr>
              <a:t>size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move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eat-sheep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death</a:t>
            </a:r>
          </a:p>
          <a:p>
            <a:r>
              <a:rPr lang="en-GB" sz="1600" dirty="0">
                <a:solidFill>
                  <a:schemeClr val="accent3"/>
                </a:solidFill>
              </a:rPr>
              <a:t>reproduce</a:t>
            </a:r>
          </a:p>
          <a:p>
            <a:r>
              <a:rPr lang="en-GB" sz="1600" dirty="0">
                <a:solidFill>
                  <a:schemeClr val="accent5"/>
                </a:solidFill>
              </a:rPr>
              <a:t>energy?</a:t>
            </a:r>
          </a:p>
          <a:p>
            <a:r>
              <a:rPr lang="en-GB" sz="1600" dirty="0">
                <a:solidFill>
                  <a:schemeClr val="accent5"/>
                </a:solidFill>
              </a:rPr>
              <a:t>position?</a:t>
            </a:r>
            <a:endParaRPr lang="fr-FR" sz="1600" dirty="0">
              <a:solidFill>
                <a:schemeClr val="accent5"/>
              </a:solidFill>
            </a:endParaRPr>
          </a:p>
        </p:txBody>
      </p:sp>
      <p:sp>
        <p:nvSpPr>
          <p:cNvPr id="3" name="TextBox 61">
            <a:extLst>
              <a:ext uri="{FF2B5EF4-FFF2-40B4-BE49-F238E27FC236}">
                <a16:creationId xmlns:a16="http://schemas.microsoft.com/office/drawing/2014/main" id="{0791474D-522B-63E8-EBEC-8B6AADED766A}"/>
              </a:ext>
            </a:extLst>
          </p:cNvPr>
          <p:cNvSpPr txBox="1"/>
          <p:nvPr/>
        </p:nvSpPr>
        <p:spPr>
          <a:xfrm>
            <a:off x="5575973" y="5761465"/>
            <a:ext cx="2809491" cy="830997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fr-FR" sz="1600" i="1" dirty="0"/>
              <a:t>« Oversimplifcation is hard to accept, but assumptions essential » Paul E. Smaldino</a:t>
            </a:r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235147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BB6C-A039-F83A-8921-5A5ADD15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83BAA-FCCB-0449-ABB8-A3256BCE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- Environment</a:t>
            </a:r>
            <a:endParaRPr lang="fr-FR" dirty="0"/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AF9186F9-5A5B-D147-4EB0-35C134711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5362576" cy="3651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Environment</a:t>
            </a:r>
          </a:p>
          <a:p>
            <a:pPr marL="457200" lvl="1" indent="0">
              <a:buNone/>
            </a:pPr>
            <a:r>
              <a:rPr lang="en-GB" dirty="0"/>
              <a:t>The space where agents interact.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The environment affect agent actions but also can be affected by agent actions.</a:t>
            </a:r>
          </a:p>
        </p:txBody>
      </p:sp>
      <p:pic>
        <p:nvPicPr>
          <p:cNvPr id="23" name="Espace réservé du contenu 17">
            <a:extLst>
              <a:ext uri="{FF2B5EF4-FFF2-40B4-BE49-F238E27FC236}">
                <a16:creationId xmlns:a16="http://schemas.microsoft.com/office/drawing/2014/main" id="{5B385D4E-3E20-AF62-EAA1-389951DB4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013" y="1946394"/>
            <a:ext cx="2622550" cy="2622550"/>
          </a:xfrm>
          <a:prstGeom prst="rect">
            <a:avLst/>
          </a:prstGeom>
          <a:ln w="28575">
            <a:noFill/>
          </a:ln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73A1D5D2-3664-EC1F-F982-C8269A540C42}"/>
              </a:ext>
            </a:extLst>
          </p:cNvPr>
          <p:cNvSpPr txBox="1"/>
          <p:nvPr/>
        </p:nvSpPr>
        <p:spPr>
          <a:xfrm>
            <a:off x="6253012" y="4568944"/>
            <a:ext cx="2622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Agent-based Wolf Sheep Predation Model (</a:t>
            </a:r>
            <a:r>
              <a:rPr lang="en-GB" sz="1400" i="1" dirty="0"/>
              <a:t>Wilensky, 1997)</a:t>
            </a:r>
            <a:endParaRPr lang="fr-FR" sz="1400" dirty="0"/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6810BFB3-6537-375B-03C2-18D2E60D9EE8}"/>
              </a:ext>
            </a:extLst>
          </p:cNvPr>
          <p:cNvGrpSpPr/>
          <p:nvPr/>
        </p:nvGrpSpPr>
        <p:grpSpPr>
          <a:xfrm>
            <a:off x="1220544" y="2792530"/>
            <a:ext cx="4178788" cy="1300164"/>
            <a:chOff x="857281" y="3162616"/>
            <a:chExt cx="4178788" cy="1300164"/>
          </a:xfrm>
        </p:grpSpPr>
        <p:pic>
          <p:nvPicPr>
            <p:cNvPr id="22" name="Picture 3">
              <a:extLst>
                <a:ext uri="{FF2B5EF4-FFF2-40B4-BE49-F238E27FC236}">
                  <a16:creationId xmlns:a16="http://schemas.microsoft.com/office/drawing/2014/main" id="{2CC1DEE5-AD41-B597-2E3D-37845127B5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443" t="13869" r="49210" b="1706"/>
            <a:stretch/>
          </p:blipFill>
          <p:spPr>
            <a:xfrm>
              <a:off x="857281" y="3439427"/>
              <a:ext cx="1021185" cy="1023353"/>
            </a:xfrm>
            <a:prstGeom prst="rect">
              <a:avLst/>
            </a:prstGeom>
          </p:spPr>
        </p:pic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64CC090E-6237-A695-75EC-553A479F0A59}"/>
                </a:ext>
              </a:extLst>
            </p:cNvPr>
            <p:cNvSpPr txBox="1"/>
            <p:nvPr/>
          </p:nvSpPr>
          <p:spPr>
            <a:xfrm>
              <a:off x="1055717" y="3162616"/>
              <a:ext cx="6188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/>
                <a:t>grid</a:t>
              </a:r>
              <a:endParaRPr lang="en-GB" sz="1400" b="1" dirty="0"/>
            </a:p>
          </p:txBody>
        </p:sp>
        <p:grpSp>
          <p:nvGrpSpPr>
            <p:cNvPr id="26" name="Group 8">
              <a:extLst>
                <a:ext uri="{FF2B5EF4-FFF2-40B4-BE49-F238E27FC236}">
                  <a16:creationId xmlns:a16="http://schemas.microsoft.com/office/drawing/2014/main" id="{6B380DBC-77F3-B105-5225-AD4D6CC6FA36}"/>
                </a:ext>
              </a:extLst>
            </p:cNvPr>
            <p:cNvGrpSpPr/>
            <p:nvPr/>
          </p:nvGrpSpPr>
          <p:grpSpPr>
            <a:xfrm>
              <a:off x="2458351" y="3472190"/>
              <a:ext cx="1063909" cy="847878"/>
              <a:chOff x="4829175" y="3271798"/>
              <a:chExt cx="1163516" cy="902887"/>
            </a:xfrm>
          </p:grpSpPr>
          <p:sp>
            <p:nvSpPr>
              <p:cNvPr id="27" name="Oval 14">
                <a:extLst>
                  <a:ext uri="{FF2B5EF4-FFF2-40B4-BE49-F238E27FC236}">
                    <a16:creationId xmlns:a16="http://schemas.microsoft.com/office/drawing/2014/main" id="{5EBA4251-1520-BB3A-5FE1-A4BDAC8D1108}"/>
                  </a:ext>
                </a:extLst>
              </p:cNvPr>
              <p:cNvSpPr/>
              <p:nvPr/>
            </p:nvSpPr>
            <p:spPr>
              <a:xfrm>
                <a:off x="4829175" y="3428999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40BE6E25-91E5-F91B-D32F-40743F4387FA}"/>
                  </a:ext>
                </a:extLst>
              </p:cNvPr>
              <p:cNvSpPr/>
              <p:nvPr/>
            </p:nvSpPr>
            <p:spPr>
              <a:xfrm>
                <a:off x="5449689" y="3853259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9" name="Straight Connector 16">
                <a:extLst>
                  <a:ext uri="{FF2B5EF4-FFF2-40B4-BE49-F238E27FC236}">
                    <a16:creationId xmlns:a16="http://schemas.microsoft.com/office/drawing/2014/main" id="{A1F299E2-B30C-4780-5377-7D7C1AC2C8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3078" y="3383756"/>
                <a:ext cx="431403" cy="1591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0">
                <a:extLst>
                  <a:ext uri="{FF2B5EF4-FFF2-40B4-BE49-F238E27FC236}">
                    <a16:creationId xmlns:a16="http://schemas.microsoft.com/office/drawing/2014/main" id="{95C7357E-45AA-F0C3-4925-C3E21324B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3078" y="3548869"/>
                <a:ext cx="195660" cy="50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23">
                <a:extLst>
                  <a:ext uri="{FF2B5EF4-FFF2-40B4-BE49-F238E27FC236}">
                    <a16:creationId xmlns:a16="http://schemas.microsoft.com/office/drawing/2014/main" id="{6F93A68D-5241-A64F-826B-82334D41CC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2880" y="3550428"/>
                <a:ext cx="620713" cy="4167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26">
                <a:extLst>
                  <a:ext uri="{FF2B5EF4-FFF2-40B4-BE49-F238E27FC236}">
                    <a16:creationId xmlns:a16="http://schemas.microsoft.com/office/drawing/2014/main" id="{15F12658-5401-88CD-988B-9FB900F5B354}"/>
                  </a:ext>
                </a:extLst>
              </p:cNvPr>
              <p:cNvSpPr/>
              <p:nvPr/>
            </p:nvSpPr>
            <p:spPr>
              <a:xfrm>
                <a:off x="5764884" y="3473610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27">
                <a:extLst>
                  <a:ext uri="{FF2B5EF4-FFF2-40B4-BE49-F238E27FC236}">
                    <a16:creationId xmlns:a16="http://schemas.microsoft.com/office/drawing/2014/main" id="{D07362B7-6007-8CCD-A2FA-85F98663E77F}"/>
                  </a:ext>
                </a:extLst>
              </p:cNvPr>
              <p:cNvSpPr/>
              <p:nvPr/>
            </p:nvSpPr>
            <p:spPr>
              <a:xfrm>
                <a:off x="5258273" y="3271798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28">
                <a:extLst>
                  <a:ext uri="{FF2B5EF4-FFF2-40B4-BE49-F238E27FC236}">
                    <a16:creationId xmlns:a16="http://schemas.microsoft.com/office/drawing/2014/main" id="{E81E3260-E0D1-53EC-2AD3-1FF05D408521}"/>
                  </a:ext>
                </a:extLst>
              </p:cNvPr>
              <p:cNvSpPr/>
              <p:nvPr/>
            </p:nvSpPr>
            <p:spPr>
              <a:xfrm>
                <a:off x="5022530" y="3946878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5" name="Straight Connector 29">
                <a:extLst>
                  <a:ext uri="{FF2B5EF4-FFF2-40B4-BE49-F238E27FC236}">
                    <a16:creationId xmlns:a16="http://schemas.microsoft.com/office/drawing/2014/main" id="{BB5ED915-9A21-AA63-C105-3267E7D7B3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6433" y="3967162"/>
                <a:ext cx="424855" cy="801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0">
                <a:extLst>
                  <a:ext uri="{FF2B5EF4-FFF2-40B4-BE49-F238E27FC236}">
                    <a16:creationId xmlns:a16="http://schemas.microsoft.com/office/drawing/2014/main" id="{3D3DEF7D-6691-C675-5293-EF95FD1D24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9138" y="3383755"/>
                <a:ext cx="509649" cy="2037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1">
                <a:extLst>
                  <a:ext uri="{FF2B5EF4-FFF2-40B4-BE49-F238E27FC236}">
                    <a16:creationId xmlns:a16="http://schemas.microsoft.com/office/drawing/2014/main" id="{7170E315-D3B2-DAE8-39B5-687A89A693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1288" y="3587513"/>
                <a:ext cx="314461" cy="37964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9">
              <a:extLst>
                <a:ext uri="{FF2B5EF4-FFF2-40B4-BE49-F238E27FC236}">
                  <a16:creationId xmlns:a16="http://schemas.microsoft.com/office/drawing/2014/main" id="{E039C896-FE09-9CC6-3088-1EBDA3BECDB9}"/>
                </a:ext>
              </a:extLst>
            </p:cNvPr>
            <p:cNvSpPr txBox="1"/>
            <p:nvPr/>
          </p:nvSpPr>
          <p:spPr>
            <a:xfrm>
              <a:off x="2089448" y="3162706"/>
              <a:ext cx="17181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/>
                <a:t>network</a:t>
              </a:r>
              <a:endParaRPr lang="en-GB" sz="1400" b="1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11997BC-2A0C-FA3B-11D8-1ACC70EAAF58}"/>
                </a:ext>
              </a:extLst>
            </p:cNvPr>
            <p:cNvSpPr/>
            <p:nvPr/>
          </p:nvSpPr>
          <p:spPr>
            <a:xfrm>
              <a:off x="4107931" y="3493212"/>
              <a:ext cx="928138" cy="9281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/>
                  </a:solidFill>
                </a:rPr>
                <a:t>?</a:t>
              </a:r>
              <a:endParaRPr lang="en-GB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D3B23646-4FD2-5B33-9578-0F2064E8E4BB}"/>
                </a:ext>
              </a:extLst>
            </p:cNvPr>
            <p:cNvSpPr txBox="1"/>
            <p:nvPr/>
          </p:nvSpPr>
          <p:spPr>
            <a:xfrm>
              <a:off x="4145100" y="3162616"/>
              <a:ext cx="8497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/>
                <a:t>none?</a:t>
              </a:r>
              <a:endParaRPr lang="en-GB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182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B9C3-3BA2-7D7A-A678-825B67E9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F04EAC-0AA0-9E26-7047-D78C13EF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- Environment</a:t>
            </a:r>
            <a:endParaRPr lang="fr-FR" dirty="0"/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4F24335F-905D-8916-EB44-9214F1D25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5362576" cy="3651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Environment</a:t>
            </a:r>
          </a:p>
          <a:p>
            <a:pPr marL="457200" lvl="1" indent="0">
              <a:buNone/>
            </a:pPr>
            <a:r>
              <a:rPr lang="en-GB" dirty="0"/>
              <a:t>The space where agents interact.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The environment affect agent actions but also can be affected by agent actions.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25D4627C-5FD6-D3BC-66D8-BA7CEDB17C02}"/>
              </a:ext>
            </a:extLst>
          </p:cNvPr>
          <p:cNvGrpSpPr/>
          <p:nvPr/>
        </p:nvGrpSpPr>
        <p:grpSpPr>
          <a:xfrm>
            <a:off x="1220544" y="2792530"/>
            <a:ext cx="4178788" cy="1300164"/>
            <a:chOff x="857281" y="3162616"/>
            <a:chExt cx="4178788" cy="1300164"/>
          </a:xfrm>
        </p:grpSpPr>
        <p:pic>
          <p:nvPicPr>
            <p:cNvPr id="22" name="Picture 3">
              <a:extLst>
                <a:ext uri="{FF2B5EF4-FFF2-40B4-BE49-F238E27FC236}">
                  <a16:creationId xmlns:a16="http://schemas.microsoft.com/office/drawing/2014/main" id="{A4A1238B-43EE-AC05-E7A7-D46A0C6CD8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443" t="13869" r="49210" b="1706"/>
            <a:stretch/>
          </p:blipFill>
          <p:spPr>
            <a:xfrm>
              <a:off x="857281" y="3439427"/>
              <a:ext cx="1021185" cy="1023353"/>
            </a:xfrm>
            <a:prstGeom prst="rect">
              <a:avLst/>
            </a:prstGeom>
          </p:spPr>
        </p:pic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2C686FC1-ED4B-74D7-C967-502E4EB895CD}"/>
                </a:ext>
              </a:extLst>
            </p:cNvPr>
            <p:cNvSpPr txBox="1"/>
            <p:nvPr/>
          </p:nvSpPr>
          <p:spPr>
            <a:xfrm>
              <a:off x="1055717" y="3162616"/>
              <a:ext cx="6188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/>
                <a:t>grid</a:t>
              </a:r>
              <a:endParaRPr lang="en-GB" sz="1400" b="1" dirty="0"/>
            </a:p>
          </p:txBody>
        </p:sp>
        <p:grpSp>
          <p:nvGrpSpPr>
            <p:cNvPr id="26" name="Group 8">
              <a:extLst>
                <a:ext uri="{FF2B5EF4-FFF2-40B4-BE49-F238E27FC236}">
                  <a16:creationId xmlns:a16="http://schemas.microsoft.com/office/drawing/2014/main" id="{7F69DF56-7CF3-DBC5-3842-9FBA7FF0FFE5}"/>
                </a:ext>
              </a:extLst>
            </p:cNvPr>
            <p:cNvGrpSpPr/>
            <p:nvPr/>
          </p:nvGrpSpPr>
          <p:grpSpPr>
            <a:xfrm>
              <a:off x="2458351" y="3472190"/>
              <a:ext cx="1063909" cy="847878"/>
              <a:chOff x="4829175" y="3271798"/>
              <a:chExt cx="1163516" cy="902887"/>
            </a:xfrm>
          </p:grpSpPr>
          <p:sp>
            <p:nvSpPr>
              <p:cNvPr id="27" name="Oval 14">
                <a:extLst>
                  <a:ext uri="{FF2B5EF4-FFF2-40B4-BE49-F238E27FC236}">
                    <a16:creationId xmlns:a16="http://schemas.microsoft.com/office/drawing/2014/main" id="{3FFC08BA-DBC8-3445-035D-A9C48C710402}"/>
                  </a:ext>
                </a:extLst>
              </p:cNvPr>
              <p:cNvSpPr/>
              <p:nvPr/>
            </p:nvSpPr>
            <p:spPr>
              <a:xfrm>
                <a:off x="4829175" y="3428999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15">
                <a:extLst>
                  <a:ext uri="{FF2B5EF4-FFF2-40B4-BE49-F238E27FC236}">
                    <a16:creationId xmlns:a16="http://schemas.microsoft.com/office/drawing/2014/main" id="{CC55E83B-3C92-91C4-3497-1BCF5C31796C}"/>
                  </a:ext>
                </a:extLst>
              </p:cNvPr>
              <p:cNvSpPr/>
              <p:nvPr/>
            </p:nvSpPr>
            <p:spPr>
              <a:xfrm>
                <a:off x="5449689" y="3853259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29" name="Straight Connector 16">
                <a:extLst>
                  <a:ext uri="{FF2B5EF4-FFF2-40B4-BE49-F238E27FC236}">
                    <a16:creationId xmlns:a16="http://schemas.microsoft.com/office/drawing/2014/main" id="{B1CD3DD3-CAC3-DE2B-1D32-460A64402A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3078" y="3383756"/>
                <a:ext cx="431403" cy="1591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0">
                <a:extLst>
                  <a:ext uri="{FF2B5EF4-FFF2-40B4-BE49-F238E27FC236}">
                    <a16:creationId xmlns:a16="http://schemas.microsoft.com/office/drawing/2014/main" id="{516D05A9-2F87-E27C-5539-0E2EFB41D7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3078" y="3548869"/>
                <a:ext cx="195660" cy="504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23">
                <a:extLst>
                  <a:ext uri="{FF2B5EF4-FFF2-40B4-BE49-F238E27FC236}">
                    <a16:creationId xmlns:a16="http://schemas.microsoft.com/office/drawing/2014/main" id="{A3D05686-84C0-FBA8-1653-38C7BF431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2880" y="3550428"/>
                <a:ext cx="620713" cy="4167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Oval 26">
                <a:extLst>
                  <a:ext uri="{FF2B5EF4-FFF2-40B4-BE49-F238E27FC236}">
                    <a16:creationId xmlns:a16="http://schemas.microsoft.com/office/drawing/2014/main" id="{E6F6E8AC-9BF0-FF7E-76B0-96AB4327873A}"/>
                  </a:ext>
                </a:extLst>
              </p:cNvPr>
              <p:cNvSpPr/>
              <p:nvPr/>
            </p:nvSpPr>
            <p:spPr>
              <a:xfrm>
                <a:off x="5764884" y="3473610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27">
                <a:extLst>
                  <a:ext uri="{FF2B5EF4-FFF2-40B4-BE49-F238E27FC236}">
                    <a16:creationId xmlns:a16="http://schemas.microsoft.com/office/drawing/2014/main" id="{45F9EAE3-3402-F0DF-FBBC-549D8D58A0D2}"/>
                  </a:ext>
                </a:extLst>
              </p:cNvPr>
              <p:cNvSpPr/>
              <p:nvPr/>
            </p:nvSpPr>
            <p:spPr>
              <a:xfrm>
                <a:off x="5258273" y="3271798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28">
                <a:extLst>
                  <a:ext uri="{FF2B5EF4-FFF2-40B4-BE49-F238E27FC236}">
                    <a16:creationId xmlns:a16="http://schemas.microsoft.com/office/drawing/2014/main" id="{22543FE9-FCD2-4F63-C484-63B8CB9C0F76}"/>
                  </a:ext>
                </a:extLst>
              </p:cNvPr>
              <p:cNvSpPr/>
              <p:nvPr/>
            </p:nvSpPr>
            <p:spPr>
              <a:xfrm>
                <a:off x="5022530" y="3946878"/>
                <a:ext cx="227807" cy="22780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5" name="Straight Connector 29">
                <a:extLst>
                  <a:ext uri="{FF2B5EF4-FFF2-40B4-BE49-F238E27FC236}">
                    <a16:creationId xmlns:a16="http://schemas.microsoft.com/office/drawing/2014/main" id="{C1CA63B3-4322-57C6-8BD5-B0A7C0BA74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6433" y="3967162"/>
                <a:ext cx="424855" cy="801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0">
                <a:extLst>
                  <a:ext uri="{FF2B5EF4-FFF2-40B4-BE49-F238E27FC236}">
                    <a16:creationId xmlns:a16="http://schemas.microsoft.com/office/drawing/2014/main" id="{96DAA079-1CDE-AA5F-0CA7-145D5E7717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9138" y="3383755"/>
                <a:ext cx="509649" cy="2037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1">
                <a:extLst>
                  <a:ext uri="{FF2B5EF4-FFF2-40B4-BE49-F238E27FC236}">
                    <a16:creationId xmlns:a16="http://schemas.microsoft.com/office/drawing/2014/main" id="{61BA0B0B-0117-DA92-CAE2-FEED0D0E9F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1288" y="3587513"/>
                <a:ext cx="314461" cy="37964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9">
              <a:extLst>
                <a:ext uri="{FF2B5EF4-FFF2-40B4-BE49-F238E27FC236}">
                  <a16:creationId xmlns:a16="http://schemas.microsoft.com/office/drawing/2014/main" id="{0B4CC071-4E67-9FB7-4BC6-927C236B9DEA}"/>
                </a:ext>
              </a:extLst>
            </p:cNvPr>
            <p:cNvSpPr txBox="1"/>
            <p:nvPr/>
          </p:nvSpPr>
          <p:spPr>
            <a:xfrm>
              <a:off x="2089448" y="3162706"/>
              <a:ext cx="17181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/>
                <a:t>network</a:t>
              </a:r>
              <a:endParaRPr lang="en-GB" sz="1400" b="1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4A4D06-C831-FAA8-D7CC-066F8346513E}"/>
                </a:ext>
              </a:extLst>
            </p:cNvPr>
            <p:cNvSpPr/>
            <p:nvPr/>
          </p:nvSpPr>
          <p:spPr>
            <a:xfrm>
              <a:off x="4107931" y="3493212"/>
              <a:ext cx="928138" cy="9281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chemeClr val="tx1"/>
                  </a:solidFill>
                </a:rPr>
                <a:t>?</a:t>
              </a:r>
              <a:endParaRPr lang="en-GB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712C89BC-C709-F1C1-E7BE-C1B64EA8B725}"/>
                </a:ext>
              </a:extLst>
            </p:cNvPr>
            <p:cNvSpPr txBox="1"/>
            <p:nvPr/>
          </p:nvSpPr>
          <p:spPr>
            <a:xfrm>
              <a:off x="4145100" y="3162616"/>
              <a:ext cx="8497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/>
                <a:t>none?</a:t>
              </a:r>
              <a:endParaRPr lang="en-GB" sz="1400" b="1" dirty="0"/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4159AC97-9469-6F48-09C6-1D79B209D26F}"/>
              </a:ext>
            </a:extLst>
          </p:cNvPr>
          <p:cNvGrpSpPr/>
          <p:nvPr/>
        </p:nvGrpSpPr>
        <p:grpSpPr>
          <a:xfrm>
            <a:off x="862366" y="5587390"/>
            <a:ext cx="6997195" cy="762835"/>
            <a:chOff x="2234453" y="1946087"/>
            <a:chExt cx="7723094" cy="771621"/>
          </a:xfrm>
          <a:solidFill>
            <a:srgbClr val="FFFFFF"/>
          </a:solidFill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4C86A833-A33B-F474-4867-281D7B43C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34453" y="1946087"/>
              <a:ext cx="7723094" cy="771621"/>
            </a:xfrm>
            <a:prstGeom prst="rect">
              <a:avLst/>
            </a:prstGeom>
            <a:grpFill/>
            <a:ln w="285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2EFC5A-3564-EDBD-2E44-F762995BC286}"/>
                </a:ext>
              </a:extLst>
            </p:cNvPr>
            <p:cNvSpPr/>
            <p:nvPr/>
          </p:nvSpPr>
          <p:spPr>
            <a:xfrm>
              <a:off x="7695742" y="2427657"/>
              <a:ext cx="2219325" cy="23695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D002EE4-CD88-1A1C-7B2A-41A9C20E74E7}"/>
              </a:ext>
            </a:extLst>
          </p:cNvPr>
          <p:cNvSpPr/>
          <p:nvPr/>
        </p:nvSpPr>
        <p:spPr>
          <a:xfrm>
            <a:off x="6512273" y="3362764"/>
            <a:ext cx="485775" cy="485775"/>
          </a:xfrm>
          <a:prstGeom prst="rect">
            <a:avLst/>
          </a:prstGeom>
          <a:solidFill>
            <a:srgbClr val="996D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4B5443-2AC3-99CC-E145-D4F4FCA7DB83}"/>
              </a:ext>
            </a:extLst>
          </p:cNvPr>
          <p:cNvSpPr/>
          <p:nvPr/>
        </p:nvSpPr>
        <p:spPr>
          <a:xfrm>
            <a:off x="7796260" y="3383516"/>
            <a:ext cx="485775" cy="485775"/>
          </a:xfrm>
          <a:prstGeom prst="rect">
            <a:avLst/>
          </a:prstGeom>
          <a:solidFill>
            <a:srgbClr val="53B4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F5FA199E-B631-174B-F13B-23A13A8B2944}"/>
              </a:ext>
            </a:extLst>
          </p:cNvPr>
          <p:cNvSpPr txBox="1"/>
          <p:nvPr/>
        </p:nvSpPr>
        <p:spPr>
          <a:xfrm>
            <a:off x="6969290" y="3598978"/>
            <a:ext cx="77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/>
              <a:t>dirt</a:t>
            </a:r>
            <a:endParaRPr lang="en-GB" sz="1400" b="1" dirty="0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E3AD9521-9394-D0AF-236D-1F28A06C3441}"/>
              </a:ext>
            </a:extLst>
          </p:cNvPr>
          <p:cNvSpPr txBox="1"/>
          <p:nvPr/>
        </p:nvSpPr>
        <p:spPr>
          <a:xfrm>
            <a:off x="8282035" y="3580843"/>
            <a:ext cx="77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err="1"/>
              <a:t>grass</a:t>
            </a:r>
            <a:endParaRPr lang="en-GB" sz="1400" b="1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DBD2C8C-91D0-D9DB-3659-DFFAF1A791E1}"/>
              </a:ext>
            </a:extLst>
          </p:cNvPr>
          <p:cNvSpPr txBox="1"/>
          <p:nvPr/>
        </p:nvSpPr>
        <p:spPr>
          <a:xfrm>
            <a:off x="6567372" y="3999028"/>
            <a:ext cx="17908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accent3"/>
                </a:solidFill>
              </a:rPr>
              <a:t>grow-grass</a:t>
            </a:r>
          </a:p>
          <a:p>
            <a:r>
              <a:rPr lang="en-GB" sz="1600" dirty="0"/>
              <a:t>eat-grass (sheep)</a:t>
            </a:r>
          </a:p>
          <a:p>
            <a:endParaRPr lang="en-GB" sz="1600" dirty="0">
              <a:solidFill>
                <a:schemeClr val="accent2"/>
              </a:solidFill>
            </a:endParaRPr>
          </a:p>
          <a:p>
            <a:endParaRPr lang="fr-FR" sz="1600" dirty="0">
              <a:solidFill>
                <a:schemeClr val="accent2"/>
              </a:solidFill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6FE46FAB-D492-2774-3115-D311E2AAB7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43" t="13869" r="49210" b="1706"/>
          <a:stretch/>
        </p:blipFill>
        <p:spPr>
          <a:xfrm>
            <a:off x="7049844" y="2169449"/>
            <a:ext cx="1021185" cy="1023353"/>
          </a:xfrm>
          <a:prstGeom prst="rect">
            <a:avLst/>
          </a:prstGeom>
        </p:spPr>
      </p:pic>
      <p:sp>
        <p:nvSpPr>
          <p:cNvPr id="19" name="TextBox 6">
            <a:extLst>
              <a:ext uri="{FF2B5EF4-FFF2-40B4-BE49-F238E27FC236}">
                <a16:creationId xmlns:a16="http://schemas.microsoft.com/office/drawing/2014/main" id="{5E7C64B0-DA78-5EB2-A3B6-23195911801C}"/>
              </a:ext>
            </a:extLst>
          </p:cNvPr>
          <p:cNvSpPr txBox="1"/>
          <p:nvPr/>
        </p:nvSpPr>
        <p:spPr>
          <a:xfrm>
            <a:off x="7248280" y="1892638"/>
            <a:ext cx="618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grid</a:t>
            </a:r>
            <a:endParaRPr lang="en-GB" sz="1400" b="1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A255924-8E29-F93E-C116-2A041AEB54A5}"/>
              </a:ext>
            </a:extLst>
          </p:cNvPr>
          <p:cNvSpPr txBox="1"/>
          <p:nvPr/>
        </p:nvSpPr>
        <p:spPr>
          <a:xfrm>
            <a:off x="6072235" y="64236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1" dirty="0"/>
              <a:t>Paul E. Smaldino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749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1770C-B319-296D-A552-A7BA9A5A2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8416CD-F13D-7337-F568-21F58234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 - Rules</a:t>
            </a:r>
            <a:endParaRPr lang="fr-FR" dirty="0"/>
          </a:p>
        </p:txBody>
      </p:sp>
      <p:sp>
        <p:nvSpPr>
          <p:cNvPr id="21" name="Espace réservé du contenu 20">
            <a:extLst>
              <a:ext uri="{FF2B5EF4-FFF2-40B4-BE49-F238E27FC236}">
                <a16:creationId xmlns:a16="http://schemas.microsoft.com/office/drawing/2014/main" id="{0D650F50-C626-907A-E7B6-85812712B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53625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Rules</a:t>
            </a:r>
          </a:p>
          <a:p>
            <a:pPr marL="457200" lvl="1" indent="0">
              <a:buNone/>
            </a:pPr>
            <a:r>
              <a:rPr lang="en-GB" dirty="0"/>
              <a:t>A set of instruction for interaction between agents and their environment.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Can be classified in five basic classes:</a:t>
            </a:r>
          </a:p>
          <a:p>
            <a:pPr lvl="2"/>
            <a:r>
              <a:rPr lang="en-GB" i="1" dirty="0"/>
              <a:t>agent-self</a:t>
            </a:r>
          </a:p>
          <a:p>
            <a:pPr lvl="2"/>
            <a:r>
              <a:rPr lang="en-GB" i="1" dirty="0"/>
              <a:t>environment-self</a:t>
            </a:r>
          </a:p>
          <a:p>
            <a:pPr lvl="2"/>
            <a:r>
              <a:rPr lang="en-GB" i="1" dirty="0"/>
              <a:t>agent-agent</a:t>
            </a:r>
          </a:p>
          <a:p>
            <a:pPr lvl="2"/>
            <a:r>
              <a:rPr lang="en-GB" i="1" dirty="0"/>
              <a:t>environment-environment</a:t>
            </a:r>
          </a:p>
          <a:p>
            <a:pPr lvl="2"/>
            <a:r>
              <a:rPr lang="en-GB" i="1" dirty="0"/>
              <a:t>agent-agent</a:t>
            </a:r>
          </a:p>
        </p:txBody>
      </p:sp>
      <p:pic>
        <p:nvPicPr>
          <p:cNvPr id="23" name="Espace réservé du contenu 17">
            <a:extLst>
              <a:ext uri="{FF2B5EF4-FFF2-40B4-BE49-F238E27FC236}">
                <a16:creationId xmlns:a16="http://schemas.microsoft.com/office/drawing/2014/main" id="{7E5FA298-D97F-3D15-AD74-9F11A2201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013" y="1946394"/>
            <a:ext cx="2622550" cy="2622550"/>
          </a:xfrm>
          <a:prstGeom prst="rect">
            <a:avLst/>
          </a:prstGeom>
          <a:ln w="28575">
            <a:noFill/>
          </a:ln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1D62B86F-D59C-C0EC-9418-F7602797456A}"/>
              </a:ext>
            </a:extLst>
          </p:cNvPr>
          <p:cNvSpPr txBox="1"/>
          <p:nvPr/>
        </p:nvSpPr>
        <p:spPr>
          <a:xfrm>
            <a:off x="6253012" y="4568944"/>
            <a:ext cx="26225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Agent-based Wolf Sheep Predation Model (</a:t>
            </a:r>
            <a:r>
              <a:rPr lang="en-GB" sz="1400" i="1" dirty="0"/>
              <a:t>Wilensky, 1997)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2941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A5224-389B-D429-1B4F-29CB8ED7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E140E-6D06-B101-A82D-1CB38C9F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</a:t>
            </a:r>
            <a:endParaRPr lang="fr-FR" dirty="0"/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CEBBD43-B062-8687-3F60-8C6142BB3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700" cy="1603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Emergence</a:t>
            </a:r>
            <a:endParaRPr lang="fr-FR" b="1" dirty="0"/>
          </a:p>
          <a:p>
            <a:pPr marL="457200" lvl="1" indent="0" algn="just">
              <a:buNone/>
            </a:pPr>
            <a:r>
              <a:rPr lang="en-GB" i="1" dirty="0"/>
              <a:t>“the arising of novel and coherent structures, patterns, and properties through the interactions of multiple distributed elements”.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F541DA5-8D62-4887-579C-01CFCF66227C}"/>
              </a:ext>
            </a:extLst>
          </p:cNvPr>
          <p:cNvSpPr txBox="1"/>
          <p:nvPr/>
        </p:nvSpPr>
        <p:spPr>
          <a:xfrm>
            <a:off x="693690" y="4240715"/>
            <a:ext cx="7756618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fr-FR" sz="1600" i="1" dirty="0"/>
              <a:t>« One of the main challenge in social science </a:t>
            </a:r>
            <a:r>
              <a:rPr lang="fr-FR" sz="1600" i="1" dirty="0" err="1"/>
              <a:t>is</a:t>
            </a:r>
            <a:r>
              <a:rPr lang="fr-FR" sz="1600" i="1" dirty="0"/>
              <a:t> to </a:t>
            </a:r>
            <a:r>
              <a:rPr lang="fr-FR" sz="1600" i="1" dirty="0" err="1"/>
              <a:t>explain</a:t>
            </a:r>
            <a:r>
              <a:rPr lang="fr-FR" sz="1600" i="1" dirty="0"/>
              <a:t> how </a:t>
            </a:r>
            <a:r>
              <a:rPr lang="fr-FR" sz="1600" i="1" dirty="0" err="1"/>
              <a:t>constraints</a:t>
            </a:r>
            <a:r>
              <a:rPr lang="fr-FR" sz="1600" i="1" dirty="0"/>
              <a:t>, </a:t>
            </a:r>
            <a:r>
              <a:rPr lang="fr-FR" sz="1600" i="1" dirty="0" err="1"/>
              <a:t>preferences</a:t>
            </a:r>
            <a:r>
              <a:rPr lang="fr-FR" sz="1600" i="1" dirty="0"/>
              <a:t>, and affordances </a:t>
            </a:r>
            <a:r>
              <a:rPr lang="fr-FR" sz="1600" i="1" dirty="0" err="1"/>
              <a:t>interact</a:t>
            </a:r>
            <a:r>
              <a:rPr lang="fr-FR" sz="1600" i="1" dirty="0"/>
              <a:t> to </a:t>
            </a:r>
            <a:r>
              <a:rPr lang="fr-FR" sz="1600" i="1" dirty="0" err="1"/>
              <a:t>produce</a:t>
            </a:r>
            <a:r>
              <a:rPr lang="fr-FR" sz="1600" i="1" dirty="0"/>
              <a:t> population-</a:t>
            </a:r>
            <a:r>
              <a:rPr lang="fr-FR" sz="1600" i="1" dirty="0" err="1"/>
              <a:t>level</a:t>
            </a:r>
            <a:r>
              <a:rPr lang="fr-FR" sz="1600" i="1" dirty="0"/>
              <a:t> </a:t>
            </a:r>
            <a:r>
              <a:rPr lang="fr-FR" sz="1600" i="1" dirty="0" err="1"/>
              <a:t>outcomes</a:t>
            </a:r>
            <a:r>
              <a:rPr lang="fr-FR" sz="1600" i="1" dirty="0"/>
              <a:t> » Paul E. Smaldino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40330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27E5-A4C9-A253-40B1-0AEE9FD4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84B00-81E2-0234-8AA5-EE56BF53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</a:t>
            </a:r>
            <a:endParaRPr lang="fr-FR" dirty="0"/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8D89304-CDAE-3A02-31F6-8D73092DB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700" cy="1603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Emergence</a:t>
            </a:r>
            <a:endParaRPr lang="fr-FR" b="1" dirty="0"/>
          </a:p>
          <a:p>
            <a:pPr marL="457200" lvl="1" indent="0" algn="just">
              <a:buNone/>
            </a:pPr>
            <a:r>
              <a:rPr lang="en-GB" i="1" dirty="0"/>
              <a:t>“the arising of novel and coherent structures, patterns, and properties through the interactions of multiple distributed elements”.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501F5AD-7AF7-358B-A603-30D2E31BD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231" y="3962400"/>
            <a:ext cx="2922527" cy="2194144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F73BAC92-8768-D74F-2C65-683471C40ED1}"/>
              </a:ext>
            </a:extLst>
          </p:cNvPr>
          <p:cNvSpPr txBox="1"/>
          <p:nvPr/>
        </p:nvSpPr>
        <p:spPr>
          <a:xfrm>
            <a:off x="6291202" y="3654623"/>
            <a:ext cx="99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/>
              <a:t>Flocking</a:t>
            </a:r>
            <a:endParaRPr lang="en-GB" sz="1400" b="1" dirty="0"/>
          </a:p>
        </p:txBody>
      </p:sp>
      <p:sp>
        <p:nvSpPr>
          <p:cNvPr id="5" name="Espace réservé du contenu 10">
            <a:extLst>
              <a:ext uri="{FF2B5EF4-FFF2-40B4-BE49-F238E27FC236}">
                <a16:creationId xmlns:a16="http://schemas.microsoft.com/office/drawing/2014/main" id="{86C97CD7-1419-B481-F0A4-23D920091CA4}"/>
              </a:ext>
            </a:extLst>
          </p:cNvPr>
          <p:cNvSpPr txBox="1">
            <a:spLocks/>
          </p:cNvSpPr>
          <p:nvPr/>
        </p:nvSpPr>
        <p:spPr>
          <a:xfrm>
            <a:off x="200024" y="4138658"/>
            <a:ext cx="3999280" cy="250683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/>
              <a:t>Separation</a:t>
            </a:r>
            <a:endParaRPr lang="fr-FR" b="1" dirty="0"/>
          </a:p>
          <a:p>
            <a:pPr marL="0" indent="0">
              <a:buNone/>
            </a:pPr>
            <a:r>
              <a:rPr lang="fr-FR" dirty="0" err="1">
                <a:solidFill>
                  <a:schemeClr val="accent3"/>
                </a:solidFill>
              </a:rPr>
              <a:t>Avoid</a:t>
            </a:r>
            <a:r>
              <a:rPr lang="fr-FR" dirty="0"/>
              <a:t> </a:t>
            </a:r>
            <a:r>
              <a:rPr lang="fr-FR" dirty="0" err="1"/>
              <a:t>crowding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(short range </a:t>
            </a:r>
            <a:r>
              <a:rPr lang="fr-FR" dirty="0" err="1"/>
              <a:t>repulsion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b="1" dirty="0" err="1"/>
              <a:t>Alignment</a:t>
            </a:r>
            <a:endParaRPr lang="fr-FR" b="1" dirty="0"/>
          </a:p>
          <a:p>
            <a:pPr marL="0" indent="0">
              <a:buNone/>
            </a:pPr>
            <a:r>
              <a:rPr lang="fr-FR" dirty="0">
                <a:solidFill>
                  <a:schemeClr val="accent3"/>
                </a:solidFill>
              </a:rPr>
              <a:t>Steer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>
                <a:solidFill>
                  <a:schemeClr val="accent2"/>
                </a:solidFill>
              </a:rPr>
              <a:t>heading</a:t>
            </a:r>
            <a:r>
              <a:rPr lang="fr-FR" dirty="0"/>
              <a:t> of </a:t>
            </a:r>
            <a:r>
              <a:rPr lang="fr-FR" dirty="0" err="1"/>
              <a:t>neighbours</a:t>
            </a:r>
            <a:endParaRPr lang="fr-FR" dirty="0"/>
          </a:p>
          <a:p>
            <a:pPr marL="0" indent="0">
              <a:buNone/>
            </a:pPr>
            <a:r>
              <a:rPr lang="fr-FR" b="1" dirty="0" err="1"/>
              <a:t>Cohesion</a:t>
            </a:r>
            <a:endParaRPr lang="fr-FR" b="1" dirty="0"/>
          </a:p>
          <a:p>
            <a:pPr marL="0" indent="0">
              <a:buNone/>
            </a:pPr>
            <a:r>
              <a:rPr lang="fr-FR" dirty="0">
                <a:solidFill>
                  <a:schemeClr val="accent3"/>
                </a:solidFill>
              </a:rPr>
              <a:t>Steer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</a:t>
            </a:r>
            <a:r>
              <a:rPr lang="fr-FR" dirty="0" err="1">
                <a:solidFill>
                  <a:schemeClr val="accent5"/>
                </a:solidFill>
              </a:rPr>
              <a:t>average</a:t>
            </a:r>
            <a:r>
              <a:rPr lang="fr-FR" dirty="0">
                <a:solidFill>
                  <a:schemeClr val="accent5"/>
                </a:solidFill>
              </a:rPr>
              <a:t> position of </a:t>
            </a:r>
            <a:r>
              <a:rPr lang="fr-FR" dirty="0" err="1">
                <a:solidFill>
                  <a:schemeClr val="accent5"/>
                </a:solidFill>
              </a:rPr>
              <a:t>neighbours</a:t>
            </a:r>
            <a:r>
              <a:rPr lang="fr-FR" dirty="0">
                <a:solidFill>
                  <a:schemeClr val="accent5"/>
                </a:solidFill>
              </a:rPr>
              <a:t> </a:t>
            </a:r>
            <a:r>
              <a:rPr lang="fr-FR" dirty="0"/>
              <a:t>(long range attraction)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E4F1FE4-FE30-61CF-F36B-B85BDBC4675E}"/>
              </a:ext>
            </a:extLst>
          </p:cNvPr>
          <p:cNvSpPr txBox="1"/>
          <p:nvPr/>
        </p:nvSpPr>
        <p:spPr>
          <a:xfrm>
            <a:off x="1701372" y="3683198"/>
            <a:ext cx="99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ABM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370745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8408-EE30-089E-23A9-C6032027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8E07A-EB39-5B6A-FF04-1D24B867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concepts</a:t>
            </a:r>
            <a:endParaRPr lang="fr-FR" dirty="0"/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E485596-1DB3-7F09-F90D-6B948D12C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5"/>
            <a:ext cx="7886700" cy="1603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Emergence</a:t>
            </a:r>
            <a:endParaRPr lang="fr-FR" b="1" dirty="0"/>
          </a:p>
          <a:p>
            <a:pPr marL="457200" lvl="1" indent="0" algn="just">
              <a:buNone/>
            </a:pPr>
            <a:r>
              <a:rPr lang="en-GB" i="1" dirty="0"/>
              <a:t>“the arising of novel and coherent structures, patterns, and properties through the interactions of multiple distributed elements”.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280CB2-FB7F-B812-FE6F-34E70D306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17" y="537214"/>
            <a:ext cx="1953236" cy="14664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F17350F-2896-E2BE-7BC3-67E25A53D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529" y="4242058"/>
            <a:ext cx="4562476" cy="177429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899B889-2C1C-CAA6-C832-F5A3B1A727FF}"/>
              </a:ext>
            </a:extLst>
          </p:cNvPr>
          <p:cNvSpPr txBox="1"/>
          <p:nvPr/>
        </p:nvSpPr>
        <p:spPr>
          <a:xfrm>
            <a:off x="7319351" y="6052673"/>
            <a:ext cx="1809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Nguyen et. al. 2025</a:t>
            </a:r>
            <a:endParaRPr lang="fr-FR" sz="1400" dirty="0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F93843B-37B7-5C60-0F58-157A1CBE536B}"/>
              </a:ext>
            </a:extLst>
          </p:cNvPr>
          <p:cNvSpPr txBox="1"/>
          <p:nvPr/>
        </p:nvSpPr>
        <p:spPr>
          <a:xfrm>
            <a:off x="7177943" y="211237"/>
            <a:ext cx="99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/>
              <a:t>Flocking</a:t>
            </a:r>
            <a:endParaRPr lang="en-GB" sz="1400" b="1" dirty="0"/>
          </a:p>
        </p:txBody>
      </p:sp>
      <p:sp>
        <p:nvSpPr>
          <p:cNvPr id="5" name="Espace réservé du contenu 10">
            <a:extLst>
              <a:ext uri="{FF2B5EF4-FFF2-40B4-BE49-F238E27FC236}">
                <a16:creationId xmlns:a16="http://schemas.microsoft.com/office/drawing/2014/main" id="{9D7BFA2D-207A-CD06-1D04-758F2D029A5A}"/>
              </a:ext>
            </a:extLst>
          </p:cNvPr>
          <p:cNvSpPr txBox="1">
            <a:spLocks/>
          </p:cNvSpPr>
          <p:nvPr/>
        </p:nvSpPr>
        <p:spPr>
          <a:xfrm>
            <a:off x="200024" y="4138658"/>
            <a:ext cx="3999280" cy="250683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 err="1"/>
              <a:t>Separation</a:t>
            </a:r>
            <a:endParaRPr lang="fr-FR" b="1" dirty="0"/>
          </a:p>
          <a:p>
            <a:pPr marL="0" indent="0">
              <a:buNone/>
            </a:pPr>
            <a:r>
              <a:rPr lang="fr-FR" dirty="0" err="1">
                <a:solidFill>
                  <a:schemeClr val="accent3"/>
                </a:solidFill>
              </a:rPr>
              <a:t>Avoid</a:t>
            </a:r>
            <a:r>
              <a:rPr lang="fr-FR" dirty="0"/>
              <a:t> </a:t>
            </a:r>
            <a:r>
              <a:rPr lang="fr-FR" dirty="0" err="1"/>
              <a:t>crowding</a:t>
            </a:r>
            <a:r>
              <a:rPr lang="fr-FR" dirty="0"/>
              <a:t> </a:t>
            </a:r>
            <a:r>
              <a:rPr lang="fr-FR" dirty="0" err="1"/>
              <a:t>neighbours</a:t>
            </a:r>
            <a:r>
              <a:rPr lang="fr-FR" dirty="0"/>
              <a:t> (short range </a:t>
            </a:r>
            <a:r>
              <a:rPr lang="fr-FR" dirty="0" err="1"/>
              <a:t>repulsion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b="1" dirty="0" err="1"/>
              <a:t>Alignment</a:t>
            </a:r>
            <a:endParaRPr lang="fr-FR" b="1" dirty="0"/>
          </a:p>
          <a:p>
            <a:pPr marL="0" indent="0">
              <a:buNone/>
            </a:pPr>
            <a:r>
              <a:rPr lang="fr-FR" dirty="0">
                <a:solidFill>
                  <a:schemeClr val="accent3"/>
                </a:solidFill>
              </a:rPr>
              <a:t>Steer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>
                <a:solidFill>
                  <a:schemeClr val="accent2"/>
                </a:solidFill>
              </a:rPr>
              <a:t>heading</a:t>
            </a:r>
            <a:r>
              <a:rPr lang="fr-FR" dirty="0"/>
              <a:t> of </a:t>
            </a:r>
            <a:r>
              <a:rPr lang="fr-FR" dirty="0" err="1"/>
              <a:t>neighbours</a:t>
            </a:r>
            <a:endParaRPr lang="fr-FR" dirty="0"/>
          </a:p>
          <a:p>
            <a:pPr marL="0" indent="0">
              <a:buNone/>
            </a:pPr>
            <a:r>
              <a:rPr lang="fr-FR" b="1" dirty="0" err="1"/>
              <a:t>Cohesion</a:t>
            </a:r>
            <a:endParaRPr lang="fr-FR" b="1" dirty="0"/>
          </a:p>
          <a:p>
            <a:pPr marL="0" indent="0">
              <a:buNone/>
            </a:pPr>
            <a:r>
              <a:rPr lang="fr-FR" dirty="0">
                <a:solidFill>
                  <a:schemeClr val="accent3"/>
                </a:solidFill>
              </a:rPr>
              <a:t>Steer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</a:t>
            </a:r>
            <a:r>
              <a:rPr lang="fr-FR" dirty="0" err="1">
                <a:solidFill>
                  <a:schemeClr val="accent5"/>
                </a:solidFill>
              </a:rPr>
              <a:t>average</a:t>
            </a:r>
            <a:r>
              <a:rPr lang="fr-FR" dirty="0">
                <a:solidFill>
                  <a:schemeClr val="accent5"/>
                </a:solidFill>
              </a:rPr>
              <a:t> position of </a:t>
            </a:r>
            <a:r>
              <a:rPr lang="fr-FR" dirty="0" err="1">
                <a:solidFill>
                  <a:schemeClr val="accent5"/>
                </a:solidFill>
              </a:rPr>
              <a:t>neighbours</a:t>
            </a:r>
            <a:r>
              <a:rPr lang="fr-FR" dirty="0">
                <a:solidFill>
                  <a:schemeClr val="accent5"/>
                </a:solidFill>
              </a:rPr>
              <a:t> </a:t>
            </a:r>
            <a:r>
              <a:rPr lang="fr-FR" dirty="0"/>
              <a:t>(long range attraction)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B8B7A41-38F6-778E-7D06-44D63A5A9052}"/>
              </a:ext>
            </a:extLst>
          </p:cNvPr>
          <p:cNvCxnSpPr>
            <a:cxnSpLocks/>
          </p:cNvCxnSpPr>
          <p:nvPr/>
        </p:nvCxnSpPr>
        <p:spPr>
          <a:xfrm>
            <a:off x="4171950" y="4086225"/>
            <a:ext cx="0" cy="24830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6D762A59-FA53-93A5-0CE7-A1121FB2DBCB}"/>
              </a:ext>
            </a:extLst>
          </p:cNvPr>
          <p:cNvSpPr txBox="1"/>
          <p:nvPr/>
        </p:nvSpPr>
        <p:spPr>
          <a:xfrm>
            <a:off x="1701372" y="3683198"/>
            <a:ext cx="99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ABM</a:t>
            </a:r>
            <a:endParaRPr lang="en-GB" sz="1400" b="1" dirty="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1F409593-7C0A-F637-B789-A6A9AC4C3F21}"/>
              </a:ext>
            </a:extLst>
          </p:cNvPr>
          <p:cNvSpPr txBox="1"/>
          <p:nvPr/>
        </p:nvSpPr>
        <p:spPr>
          <a:xfrm>
            <a:off x="5998005" y="3683198"/>
            <a:ext cx="1592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err="1"/>
              <a:t>Analytical</a:t>
            </a:r>
            <a:r>
              <a:rPr lang="fr-FR" sz="1400" b="1" dirty="0"/>
              <a:t> model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2629919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F5C53209-BA8A-14EE-E3DF-AAE3B16A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GB" dirty="0"/>
              <a:t>Three model to explore</a:t>
            </a:r>
            <a:endParaRPr lang="fr-FR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C2C661EC-FBAF-04D5-D756-DE751B9DDC3C}"/>
              </a:ext>
            </a:extLst>
          </p:cNvPr>
          <p:cNvSpPr/>
          <p:nvPr/>
        </p:nvSpPr>
        <p:spPr>
          <a:xfrm>
            <a:off x="483079" y="1673345"/>
            <a:ext cx="2606040" cy="2480959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dirty="0">
              <a:solidFill>
                <a:schemeClr val="bg2"/>
              </a:solidFill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EC1A5811-1AB3-17F1-A444-84CF4CD6149C}"/>
              </a:ext>
            </a:extLst>
          </p:cNvPr>
          <p:cNvSpPr/>
          <p:nvPr/>
        </p:nvSpPr>
        <p:spPr>
          <a:xfrm>
            <a:off x="483079" y="1673348"/>
            <a:ext cx="260604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57F7D7B-85E1-A278-8F0C-AE316321ECA4}"/>
              </a:ext>
            </a:extLst>
          </p:cNvPr>
          <p:cNvSpPr/>
          <p:nvPr/>
        </p:nvSpPr>
        <p:spPr>
          <a:xfrm>
            <a:off x="647671" y="18379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2"/>
                </a:solidFill>
              </a:rPr>
              <a:t>Fire</a:t>
            </a: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7C069AE-0035-3CDF-EA49-E13EB28F3C13}"/>
              </a:ext>
            </a:extLst>
          </p:cNvPr>
          <p:cNvSpPr/>
          <p:nvPr/>
        </p:nvSpPr>
        <p:spPr>
          <a:xfrm>
            <a:off x="647671" y="240227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Critical threshold (tipping point)</a:t>
            </a:r>
            <a:endParaRPr lang="en-US" sz="13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75543A4-9FDE-CA88-5FBA-6689770C2E95}"/>
              </a:ext>
            </a:extLst>
          </p:cNvPr>
          <p:cNvSpPr/>
          <p:nvPr/>
        </p:nvSpPr>
        <p:spPr>
          <a:xfrm>
            <a:off x="647671" y="4154304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23BF371E-D714-D114-7CA7-53AAF124B5AD}"/>
              </a:ext>
            </a:extLst>
          </p:cNvPr>
          <p:cNvSpPr/>
          <p:nvPr/>
        </p:nvSpPr>
        <p:spPr>
          <a:xfrm>
            <a:off x="3299431" y="1673348"/>
            <a:ext cx="2606040" cy="248095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41A4AB23-B0A5-6401-BB58-4F9F775E429E}"/>
              </a:ext>
            </a:extLst>
          </p:cNvPr>
          <p:cNvSpPr/>
          <p:nvPr/>
        </p:nvSpPr>
        <p:spPr>
          <a:xfrm>
            <a:off x="3299431" y="1673348"/>
            <a:ext cx="260604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C0DABBC-5B73-FA2A-5E10-9420C9F22955}"/>
              </a:ext>
            </a:extLst>
          </p:cNvPr>
          <p:cNvSpPr/>
          <p:nvPr/>
        </p:nvSpPr>
        <p:spPr>
          <a:xfrm>
            <a:off x="3464023" y="18379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Disease</a:t>
            </a:r>
            <a:endParaRPr lang="en-US" sz="2400" dirty="0">
              <a:solidFill>
                <a:schemeClr val="accent3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E0BA0B8-0844-B9F5-3DC7-9157B3DE8555}"/>
              </a:ext>
            </a:extLst>
          </p:cNvPr>
          <p:cNvSpPr/>
          <p:nvPr/>
        </p:nvSpPr>
        <p:spPr>
          <a:xfrm>
            <a:off x="3464023" y="2402278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Network and impact of environment</a:t>
            </a:r>
            <a:endParaRPr lang="en-US" sz="13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6AD5D73D-8928-E496-F75C-261DEACD1453}"/>
              </a:ext>
            </a:extLst>
          </p:cNvPr>
          <p:cNvSpPr/>
          <p:nvPr/>
        </p:nvSpPr>
        <p:spPr>
          <a:xfrm>
            <a:off x="6106639" y="1673347"/>
            <a:ext cx="2606040" cy="2480956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5E2824CE-1D49-D701-CACE-0832117A6961}"/>
              </a:ext>
            </a:extLst>
          </p:cNvPr>
          <p:cNvSpPr/>
          <p:nvPr/>
        </p:nvSpPr>
        <p:spPr>
          <a:xfrm>
            <a:off x="6106639" y="1673348"/>
            <a:ext cx="260604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68B5A307-4E83-E828-3FDD-EE99C818B63B}"/>
              </a:ext>
            </a:extLst>
          </p:cNvPr>
          <p:cNvSpPr/>
          <p:nvPr/>
        </p:nvSpPr>
        <p:spPr>
          <a:xfrm>
            <a:off x="6271231" y="1837940"/>
            <a:ext cx="2225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DB58191-3602-F5C1-3C14-82A10AF170E4}"/>
              </a:ext>
            </a:extLst>
          </p:cNvPr>
          <p:cNvSpPr/>
          <p:nvPr/>
        </p:nvSpPr>
        <p:spPr>
          <a:xfrm>
            <a:off x="6271231" y="239365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ea typeface="Calibri" pitchFamily="34" charset="-122"/>
                <a:cs typeface="Calibri" pitchFamily="34" charset="-120"/>
              </a:rPr>
              <a:t>Real example of ABM used to impact social policy</a:t>
            </a:r>
            <a:endParaRPr lang="en-US" sz="1300" dirty="0"/>
          </a:p>
        </p:txBody>
      </p:sp>
      <p:pic>
        <p:nvPicPr>
          <p:cNvPr id="42" name="Picture 4">
            <a:extLst>
              <a:ext uri="{FF2B5EF4-FFF2-40B4-BE49-F238E27FC236}">
                <a16:creationId xmlns:a16="http://schemas.microsoft.com/office/drawing/2014/main" id="{A8E4D000-C1F1-0805-CCE9-A1E3A4DE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803" y="2973034"/>
            <a:ext cx="922337" cy="930145"/>
          </a:xfrm>
          <a:prstGeom prst="rect">
            <a:avLst/>
          </a:prstGeom>
          <a:ln w="12700">
            <a:noFill/>
          </a:ln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5612CA47-7F49-24DE-1486-12579E52B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750" y="2974119"/>
            <a:ext cx="922337" cy="922337"/>
          </a:xfrm>
          <a:prstGeom prst="rect">
            <a:avLst/>
          </a:prstGeom>
        </p:spPr>
      </p:pic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AA5434B1-1DF4-61C8-9213-D7285A375A82}"/>
              </a:ext>
            </a:extLst>
          </p:cNvPr>
          <p:cNvCxnSpPr>
            <a:cxnSpLocks/>
          </p:cNvCxnSpPr>
          <p:nvPr/>
        </p:nvCxnSpPr>
        <p:spPr>
          <a:xfrm>
            <a:off x="7242019" y="3427667"/>
            <a:ext cx="33528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31356E6D-3D04-0E09-A522-C3A71C955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21" y="2898387"/>
            <a:ext cx="2259355" cy="1177618"/>
          </a:xfrm>
          <a:prstGeom prst="rect">
            <a:avLst/>
          </a:prstGeom>
        </p:spPr>
      </p:pic>
      <p:sp>
        <p:nvSpPr>
          <p:cNvPr id="6" name="Espace réservé du contenu 10">
            <a:extLst>
              <a:ext uri="{FF2B5EF4-FFF2-40B4-BE49-F238E27FC236}">
                <a16:creationId xmlns:a16="http://schemas.microsoft.com/office/drawing/2014/main" id="{31567568-79F3-2813-C996-56BE58FA7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4294053"/>
            <a:ext cx="7886700" cy="2480958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dirty="0"/>
              <a:t>For these three models, follow along the XXX document on the Dropbox/GitHub.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dirty="0"/>
              <a:t>If you want, you can explore any models available in the model library. I recommend: </a:t>
            </a:r>
            <a:r>
              <a:rPr lang="en-GB" i="1" dirty="0"/>
              <a:t>ants,</a:t>
            </a:r>
            <a:r>
              <a:rPr lang="en-GB" dirty="0"/>
              <a:t> </a:t>
            </a:r>
            <a:r>
              <a:rPr lang="en-GB" i="1" dirty="0"/>
              <a:t>altruism,</a:t>
            </a:r>
            <a:r>
              <a:rPr lang="en-GB" dirty="0"/>
              <a:t> </a:t>
            </a:r>
            <a:r>
              <a:rPr lang="en-GB" i="1" dirty="0"/>
              <a:t>mammoths,</a:t>
            </a:r>
            <a:r>
              <a:rPr lang="en-GB" dirty="0"/>
              <a:t> all variation of </a:t>
            </a:r>
            <a:r>
              <a:rPr lang="en-GB" i="1" dirty="0"/>
              <a:t>wolf sheep predation,</a:t>
            </a:r>
            <a:r>
              <a:rPr lang="en-GB" dirty="0"/>
              <a:t> </a:t>
            </a:r>
            <a:r>
              <a:rPr lang="en-GB" i="1" dirty="0"/>
              <a:t>HIV, boiling, </a:t>
            </a:r>
            <a:r>
              <a:rPr lang="en-GB" dirty="0"/>
              <a:t>the </a:t>
            </a:r>
            <a:r>
              <a:rPr lang="en-GB" i="1" dirty="0"/>
              <a:t>cellular automata</a:t>
            </a:r>
            <a:r>
              <a:rPr lang="en-GB" dirty="0"/>
              <a:t> category</a:t>
            </a:r>
            <a:r>
              <a:rPr lang="en-GB" i="1" dirty="0"/>
              <a:t>, climate change, grand canyon, virus on a Network, </a:t>
            </a:r>
            <a:r>
              <a:rPr lang="en-GB" i="1" dirty="0" err="1"/>
              <a:t>Sugarscape</a:t>
            </a:r>
            <a:r>
              <a:rPr lang="en-GB" i="1" dirty="0"/>
              <a:t>, fruit wars, language change, party, rebellion, traffic basic, voting.</a:t>
            </a:r>
            <a:endParaRPr lang="en-GB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dirty="0"/>
              <a:t>For all models, read the info tab (</a:t>
            </a:r>
            <a:r>
              <a:rPr lang="en-GB" i="1" dirty="0"/>
              <a:t>what is it?, how it works, how to use it, things to notice, things to try).</a:t>
            </a:r>
            <a:r>
              <a:rPr lang="en-GB" dirty="0"/>
              <a:t> Build your modelling intuition!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C9F0F9-F4C9-92D8-220D-00CD550FC4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123" y="2913824"/>
            <a:ext cx="2267981" cy="116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3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APS">
      <a:dk1>
        <a:srgbClr val="1F1F1F"/>
      </a:dk1>
      <a:lt1>
        <a:srgbClr val="F2F4F7"/>
      </a:lt1>
      <a:dk2>
        <a:srgbClr val="0E2841"/>
      </a:dk2>
      <a:lt2>
        <a:srgbClr val="E8E8E8"/>
      </a:lt2>
      <a:accent1>
        <a:srgbClr val="005EB8"/>
      </a:accent1>
      <a:accent2>
        <a:srgbClr val="00857D"/>
      </a:accent2>
      <a:accent3>
        <a:srgbClr val="E57200"/>
      </a:accent3>
      <a:accent4>
        <a:srgbClr val="4BAF4F"/>
      </a:accent4>
      <a:accent5>
        <a:srgbClr val="6A4FBF"/>
      </a:accent5>
      <a:accent6>
        <a:srgbClr val="4EA72E"/>
      </a:accent6>
      <a:hlink>
        <a:srgbClr val="467886"/>
      </a:hlink>
      <a:folHlink>
        <a:srgbClr val="96607D"/>
      </a:folHlink>
    </a:clrScheme>
    <a:fontScheme name="Fira Sans">
      <a:majorFont>
        <a:latin typeface="Fira Sans"/>
        <a:ea typeface=""/>
        <a:cs typeface=""/>
      </a:majorFont>
      <a:minorFont>
        <a:latin typeface="Fira San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932</TotalTime>
  <Words>615</Words>
  <Application>Microsoft Office PowerPoint</Application>
  <PresentationFormat>Affichage à l'écran (4:3)</PresentationFormat>
  <Paragraphs>142</Paragraphs>
  <Slides>13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Fira Sans</vt:lpstr>
      <vt:lpstr>Thème Office</vt:lpstr>
      <vt:lpstr>Présentation PowerPoint</vt:lpstr>
      <vt:lpstr>Agent-based model</vt:lpstr>
      <vt:lpstr>Présentation PowerPoint</vt:lpstr>
      <vt:lpstr>What’s an Agent-Based Simulation?</vt:lpstr>
      <vt:lpstr>Core concepts - Agents</vt:lpstr>
      <vt:lpstr>Core concepts - Agents</vt:lpstr>
      <vt:lpstr>Core concepts - Environment</vt:lpstr>
      <vt:lpstr>Core concepts - Environment</vt:lpstr>
      <vt:lpstr>Core concepts - Rules</vt:lpstr>
      <vt:lpstr>Core concepts</vt:lpstr>
      <vt:lpstr>Core concepts</vt:lpstr>
      <vt:lpstr>Core concepts</vt:lpstr>
      <vt:lpstr>Three model to explore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Bluet</dc:creator>
  <cp:lastModifiedBy>Alexandre Bluet</cp:lastModifiedBy>
  <cp:revision>181</cp:revision>
  <dcterms:created xsi:type="dcterms:W3CDTF">2026-05-26T12:58:52Z</dcterms:created>
  <dcterms:modified xsi:type="dcterms:W3CDTF">2026-06-10T13:32:34Z</dcterms:modified>
</cp:coreProperties>
</file>